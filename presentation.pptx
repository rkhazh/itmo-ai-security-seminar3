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3600" b="1">
                <a:solidFill>
                  <a:srgbClr val="42AFFA"/>
                </a:solidFill>
              </a:defRPr>
            </a:pPr>
            <a:r>
              <a:t>Аудит безопасности LiteLLM v1.81.9-stable</a:t>
            </a:r>
          </a:p>
          <a:p>
            <a:pPr algn="ctr">
              <a:spcAft>
                <a:spcPts val="600"/>
              </a:spcAft>
              <a:defRPr sz="2000" b="0">
                <a:solidFill>
                  <a:srgbClr val="999999"/>
                </a:solidFill>
              </a:defRPr>
            </a:pPr>
            <a:r>
              <a:t>Tool-based security assessment инфраструктуры для LLM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418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</a:pPr>
            <a:r>
              <a:rPr sz="1800" b="1">
                <a:solidFill>
                  <a:srgbClr val="42AFFA"/>
                </a:solidFill>
              </a:rPr>
              <a:t>Объект: </a:t>
            </a:r>
            <a:r>
              <a:rPr sz="1800">
                <a:solidFill>
                  <a:srgbClr val="FFFFFF"/>
                </a:solidFill>
              </a:rPr>
              <a:t>LiteLLM — unified proxy для 100+ LLM-провайдеров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42AFFA"/>
                </a:solidFill>
              </a:rPr>
              <a:t>Предмет: </a:t>
            </a:r>
            <a:r>
              <a:rPr sz="1800">
                <a:solidFill>
                  <a:srgbClr val="FFFFFF"/>
                </a:solidFill>
              </a:rPr>
              <a:t>уязвимости кода и зависимостей, влияющие на безопасность LLM-инфраструктуры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42AFFA"/>
                </a:solidFill>
              </a:rPr>
              <a:t>Цель: </a:t>
            </a:r>
            <a:r>
              <a:rPr sz="1800">
                <a:solidFill>
                  <a:srgbClr val="FFFFFF"/>
                </a:solidFill>
              </a:rPr>
              <a:t>провести security assessment и классифицировать найденные проблемы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42AFFA"/>
                </a:solidFill>
              </a:rPr>
              <a:t>Подход: </a:t>
            </a:r>
            <a:r>
              <a:rPr sz="1800">
                <a:solidFill>
                  <a:srgbClr val="FFFFFF"/>
                </a:solidFill>
              </a:rPr>
              <a:t>Bandit + Semgrep + pip-audit/OSV + skillscan + ручной триаж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42AFFA"/>
                </a:solidFill>
              </a:rPr>
              <a:t>Результат: </a:t>
            </a:r>
            <a:r>
              <a:rPr sz="1800">
                <a:solidFill>
                  <a:srgbClr val="FFFFFF"/>
                </a:solidFill>
              </a:rPr>
              <a:t>4 подтвержденные проблемы, 8 потенциальных, ~340 ложных срабатываний отфильтровано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7607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400" b="0">
                <a:solidFill>
                  <a:srgbClr val="999999"/>
                </a:solidFill>
              </a:defRPr>
            </a:pPr>
            <a:r>
              <a:t>Безопасность ИИ / AI Security  •  ИТМО  •  2026-04-09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3200" b="1">
                <a:solidFill>
                  <a:srgbClr val="42AFFA"/>
                </a:solidFill>
              </a:defRPr>
            </a:pPr>
            <a:r>
              <a:t>Почему это важно для AI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800" b="0">
                <a:solidFill>
                  <a:srgbClr val="FFFFFF"/>
                </a:solidFill>
              </a:defRPr>
            </a:pPr>
            <a:r>
              <a:t>LiteLLM — точка концентрации рисков: API-ключи всех провайдеров, пользовательские данные, prompt-ы проходят через один proxy</a:t>
            </a:r>
          </a:p>
          <a:p>
            <a:pPr>
              <a:spcAft>
                <a:spcPts val="400"/>
              </a:spcAft>
              <a:defRPr sz="1800" b="0">
                <a:solidFill>
                  <a:srgbClr val="FFFFFF"/>
                </a:solidFill>
              </a:defRPr>
            </a:pPr>
            <a:r>
              <a:t>Компрометация proxy = компрометация всех подключенных LLM-сервисов (OpenAI, Anthropic, Azure и др.)</a:t>
            </a:r>
          </a:p>
          <a:p>
            <a:pPr>
              <a:spcAft>
                <a:spcPts val="400"/>
              </a:spcAft>
              <a:defRPr sz="1800" b="0">
                <a:solidFill>
                  <a:srgbClr val="FFFFFF"/>
                </a:solidFill>
              </a:defRPr>
            </a:pPr>
            <a:r>
              <a:t>Custom guardrails используют exec() — потенциальный вектор удалённого выполнения кода (RCE)</a:t>
            </a:r>
          </a:p>
          <a:p>
            <a:pPr>
              <a:spcAft>
                <a:spcPts val="400"/>
              </a:spcAft>
              <a:defRPr sz="1800" b="0">
                <a:solidFill>
                  <a:srgbClr val="FFFFFF"/>
                </a:solidFill>
              </a:defRPr>
            </a:pPr>
            <a:r>
              <a:t>Supply chain: одна уязвимая зависимость (aiohttp) = 10 CVE разом, включая CRLF injection и утечку credentials</a:t>
            </a:r>
          </a:p>
          <a:p>
            <a:pPr>
              <a:spcAft>
                <a:spcPts val="400"/>
              </a:spcAft>
              <a:defRPr sz="1800" b="0">
                <a:solidFill>
                  <a:srgbClr val="FFFFFF"/>
                </a:solidFill>
              </a:defRPr>
            </a:pPr>
            <a:r>
              <a:t>Безопасность AI-контура зависит не только от модели, но и от инфраструктуры оркестрации, интеграций и прав доступа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5029200"/>
            <a:ext cx="9418320" cy="731520"/>
          </a:xfrm>
          <a:prstGeom prst="roundRect">
            <a:avLst/>
          </a:prstGeom>
          <a:solidFill>
            <a:srgbClr val="25253A"/>
          </a:solidFill>
          <a:ln w="25400">
            <a:solidFill>
              <a:srgbClr val="42AF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500" b="0">
                <a:solidFill>
                  <a:srgbClr val="CCCCCC"/>
                </a:solidFill>
              </a:defRPr>
            </a:pPr>
            <a:r>
              <a:t>20 000+ GitHub stars  •  используется в production  •  68 прямых зависимостей  •  поддержка 100+ LLM-провайдеров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3200" b="1">
                <a:solidFill>
                  <a:srgbClr val="42AFFA"/>
                </a:solidFill>
              </a:defRPr>
            </a:pPr>
            <a:r>
              <a:t>Объект и методология исследования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106984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371600"/>
                <a:gridCol w="4114800"/>
                <a:gridCol w="2926080"/>
              </a:tblGrid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42AFFA"/>
                          </a:solidFill>
                        </a:defRPr>
                      </a:pPr>
                      <a:r>
                        <a:t>Инструмент</a:t>
                      </a:r>
                    </a:p>
                  </a:txBody>
                  <a:tcPr>
                    <a:solidFill>
                      <a:srgbClr val="1F1F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42AFFA"/>
                          </a:solidFill>
                        </a:defRPr>
                      </a:pPr>
                      <a:r>
                        <a:t>Версия</a:t>
                      </a:r>
                    </a:p>
                  </a:txBody>
                  <a:tcPr>
                    <a:solidFill>
                      <a:srgbClr val="1F1F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42AFFA"/>
                          </a:solidFill>
                        </a:defRPr>
                      </a:pPr>
                      <a:r>
                        <a:t>Назначение</a:t>
                      </a:r>
                    </a:p>
                  </a:txBody>
                  <a:tcPr>
                    <a:solidFill>
                      <a:srgbClr val="1F1F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42AFFA"/>
                          </a:solidFill>
                        </a:defRPr>
                      </a:pPr>
                      <a:r>
                        <a:t>Findings</a:t>
                      </a:r>
                    </a:p>
                  </a:txBody>
                  <a:tcPr>
                    <a:solidFill>
                      <a:srgbClr val="1F1F3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Bandit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1.9.4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SAST, паттерн-матчинг Python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356 (10 релевантных)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Semgrep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1.157.0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Семантический SAST, taint tracking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9 (8 релевантных)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pip-audit + OSV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2.9.0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Аудит зависимостей (CVE/GHSA)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15 CVE в 5 пакетах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skillscan-security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Сканер AI agent skills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999999"/>
                          </a:solidFill>
                        </a:defRPr>
                      </a:pPr>
                      <a:r>
                        <a:t>Неприменим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3749039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</a:pPr>
            <a:r>
              <a:rPr sz="1600" b="1">
                <a:solidFill>
                  <a:srgbClr val="42AFFA"/>
                </a:solidFill>
              </a:rPr>
              <a:t>Версия: </a:t>
            </a:r>
            <a:r>
              <a:rPr sz="1600">
                <a:solidFill>
                  <a:srgbClr val="FFFFFF"/>
                </a:solidFill>
              </a:rPr>
              <a:t>LiteLLM v1.81.9-stable, commit a09d3e91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42AFFA"/>
                </a:solidFill>
              </a:rPr>
              <a:t>Scope: </a:t>
            </a:r>
            <a:r>
              <a:rPr sz="1600">
                <a:solidFill>
                  <a:srgbClr val="FFFFFF"/>
                </a:solidFill>
              </a:rPr>
              <a:t>пакет litellm/, 68 пинированных зависимостей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42AFFA"/>
                </a:solidFill>
              </a:rPr>
              <a:t>Триаж: </a:t>
            </a:r>
            <a:r>
              <a:rPr sz="1600">
                <a:solidFill>
                  <a:srgbClr val="FFFFFF"/>
                </a:solidFill>
              </a:rPr>
              <a:t>ручная классификация каждого finding → confirmed / potential / false positive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42AFFA"/>
                </a:solidFill>
              </a:rPr>
              <a:t>Ограничение: </a:t>
            </a:r>
            <a:r>
              <a:rPr sz="1600">
                <a:solidFill>
                  <a:srgbClr val="FFFFFF"/>
                </a:solidFill>
              </a:rPr>
              <a:t>pip-audit не смог разрешить зависимости на Python 3.14 — использован прямой запрос к OSV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3200" b="1">
                <a:solidFill>
                  <a:srgbClr val="42AFFA"/>
                </a:solidFill>
              </a:defRPr>
            </a:pPr>
            <a:r>
              <a:t>Подтверждённые уязвимости (4)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10698480" cy="1051560"/>
          </a:xfrm>
          <a:prstGeom prst="roundRect">
            <a:avLst/>
          </a:prstGeom>
          <a:solidFill>
            <a:srgbClr val="25253A"/>
          </a:solidFill>
          <a:ln w="25400">
            <a:solidFill>
              <a:srgbClr val="F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1500" b="1">
                <a:solidFill>
                  <a:srgbClr val="42AFFA"/>
                </a:solidFill>
              </a:rPr>
              <a:t>F-01  </a:t>
            </a:r>
            <a:r>
              <a:rPr sz="1500" b="1">
                <a:solidFill>
                  <a:srgbClr val="FF4444"/>
                </a:solidFill>
              </a:rPr>
              <a:t>HIGH  </a:t>
            </a:r>
            <a:r>
              <a:rPr sz="1500" b="1">
                <a:solidFill>
                  <a:srgbClr val="FFFFFF"/>
                </a:solidFill>
              </a:rPr>
              <a:t>exec() в custom guardrails: </a:t>
            </a:r>
            <a:r>
              <a:rPr sz="1400">
                <a:solidFill>
                  <a:srgbClr val="CCCCCC"/>
                </a:solidFill>
              </a:rPr>
              <a:t>выполнение произвольного кода. Sandbox через __builtins__={} обходится через ().__class__.__bases__[0].__subclasses__()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468880"/>
            <a:ext cx="10698480" cy="1051560"/>
          </a:xfrm>
          <a:prstGeom prst="roundRect">
            <a:avLst/>
          </a:prstGeom>
          <a:solidFill>
            <a:srgbClr val="25253A"/>
          </a:solidFill>
          <a:ln w="25400">
            <a:solidFill>
              <a:srgbClr val="FFA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1500" b="1">
                <a:solidFill>
                  <a:srgbClr val="42AFFA"/>
                </a:solidFill>
              </a:rPr>
              <a:t>F-02  </a:t>
            </a:r>
            <a:r>
              <a:rPr sz="1500" b="1">
                <a:solidFill>
                  <a:srgbClr val="FFAA00"/>
                </a:solidFill>
              </a:rPr>
              <a:t>MEDIUM  </a:t>
            </a:r>
            <a:r>
              <a:rPr sz="1500" b="1">
                <a:solidFill>
                  <a:srgbClr val="FFFFFF"/>
                </a:solidFill>
              </a:rPr>
              <a:t>Wildcard CORS: </a:t>
            </a:r>
            <a:r>
              <a:rPr sz="1400">
                <a:solidFill>
                  <a:srgbClr val="CCCCCC"/>
                </a:solidFill>
              </a:rPr>
              <a:t>allow_origins=["*"] + allow_credentials=True в FastAPI proxy-сервере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657600"/>
            <a:ext cx="10698480" cy="1051560"/>
          </a:xfrm>
          <a:prstGeom prst="roundRect">
            <a:avLst/>
          </a:prstGeom>
          <a:solidFill>
            <a:srgbClr val="25253A"/>
          </a:solidFill>
          <a:ln w="25400">
            <a:solidFill>
              <a:srgbClr val="F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1500" b="1">
                <a:solidFill>
                  <a:srgbClr val="42AFFA"/>
                </a:solidFill>
              </a:rPr>
              <a:t>F-03  </a:t>
            </a:r>
            <a:r>
              <a:rPr sz="1500" b="1">
                <a:solidFill>
                  <a:srgbClr val="FF4444"/>
                </a:solidFill>
              </a:rPr>
              <a:t>HIGH  </a:t>
            </a:r>
            <a:r>
              <a:rPr sz="1500" b="1">
                <a:solidFill>
                  <a:srgbClr val="FFFFFF"/>
                </a:solidFill>
              </a:rPr>
              <a:t>10 CVE в aiohttp 3.13.3: </a:t>
            </a:r>
            <a:r>
              <a:rPr sz="1400">
                <a:solidFill>
                  <a:srgbClr val="CCCCCC"/>
                </a:solidFill>
              </a:rPr>
              <a:t>CRLF injection, утечка Cookie/Proxy-Authorization при redirect, response splitting, DoS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846320"/>
            <a:ext cx="10698480" cy="1051560"/>
          </a:xfrm>
          <a:prstGeom prst="roundRect">
            <a:avLst/>
          </a:prstGeom>
          <a:solidFill>
            <a:srgbClr val="25253A"/>
          </a:solidFill>
          <a:ln w="25400">
            <a:solidFill>
              <a:srgbClr val="FFA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1500" b="1">
                <a:solidFill>
                  <a:srgbClr val="42AFFA"/>
                </a:solidFill>
              </a:rPr>
              <a:t>F-04  </a:t>
            </a:r>
            <a:r>
              <a:rPr sz="1500" b="1">
                <a:solidFill>
                  <a:srgbClr val="FFAA00"/>
                </a:solidFill>
              </a:rPr>
              <a:t>MEDIUM  </a:t>
            </a:r>
            <a:r>
              <a:rPr sz="1500" b="1">
                <a:solidFill>
                  <a:srgbClr val="FFFFFF"/>
                </a:solidFill>
              </a:rPr>
              <a:t>JWT без верификации подписи: </a:t>
            </a:r>
            <a:r>
              <a:rPr sz="1400">
                <a:solidFill>
                  <a:srgbClr val="CCCCCC"/>
                </a:solidFill>
              </a:rPr>
              <a:t>verify_signature=False — хрупкая зависимость от SSO 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6035040"/>
            <a:ext cx="9418320" cy="548640"/>
          </a:xfrm>
          <a:prstGeom prst="roundRect">
            <a:avLst/>
          </a:prstGeom>
          <a:solidFill>
            <a:srgbClr val="25253A"/>
          </a:solidFill>
          <a:ln w="25400">
            <a:solidFill>
              <a:srgbClr val="42AF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300" b="0">
                <a:solidFill>
                  <a:srgbClr val="CCCCCC"/>
                </a:solidFill>
              </a:defRPr>
            </a:pPr>
            <a:r>
              <a:t>Источники: Bandit (exec, MD5) + Semgrep (JWT, CORS, exec) + pip-audit/OSV (aiohttp CVE)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3200" b="1">
                <a:solidFill>
                  <a:srgbClr val="42AFFA"/>
                </a:solidFill>
              </a:defRPr>
            </a:pPr>
            <a:r>
              <a:t>Потенциальные проблемы и ложные срабатывания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5394960" cy="3840480"/>
          </a:xfrm>
          <a:prstGeom prst="roundRect">
            <a:avLst/>
          </a:prstGeom>
          <a:solidFill>
            <a:srgbClr val="25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600"/>
              </a:spcAft>
              <a:defRPr sz="1800" b="1">
                <a:solidFill>
                  <a:srgbClr val="FFAA00"/>
                </a:solidFill>
              </a:defRPr>
            </a:pPr>
            <a:r>
              <a:t>Потенциальные (8)</a:t>
            </a:r>
          </a:p>
          <a:p>
            <a:pPr>
              <a:spcAft>
                <a:spcPts val="400"/>
              </a:spcAft>
              <a:defRPr sz="1400" b="0">
                <a:solidFill>
                  <a:srgbClr val="CCCCCC"/>
                </a:solidFill>
              </a:defRPr>
            </a:pPr>
            <a:r>
              <a:t>SQL injection через f-string (8 мест)</a:t>
            </a:r>
          </a:p>
          <a:p>
            <a:pPr>
              <a:spcAft>
                <a:spcPts val="400"/>
              </a:spcAft>
              <a:defRPr sz="1400" b="0">
                <a:solidFill>
                  <a:srgbClr val="CCCCCC"/>
                </a:solidFill>
              </a:defRPr>
            </a:pPr>
            <a:r>
              <a:t>XML parsing без defusedxml (XXE)</a:t>
            </a:r>
          </a:p>
          <a:p>
            <a:pPr>
              <a:spcAft>
                <a:spcPts val="400"/>
              </a:spcAft>
              <a:defRPr sz="1400" b="0">
                <a:solidFill>
                  <a:srgbClr val="CCCCCC"/>
                </a:solidFill>
              </a:defRPr>
            </a:pPr>
            <a:r>
              <a:t>MD5 для хеширования spend logs</a:t>
            </a:r>
          </a:p>
          <a:p>
            <a:pPr>
              <a:spcAft>
                <a:spcPts val="400"/>
              </a:spcAft>
              <a:defRPr sz="1400" b="0">
                <a:solidFill>
                  <a:srgbClr val="CCCCCC"/>
                </a:solidFill>
              </a:defRPr>
            </a:pPr>
            <a:r>
              <a:t>HTTP-запросы без timeout (DoS)</a:t>
            </a:r>
          </a:p>
          <a:p>
            <a:pPr>
              <a:spcAft>
                <a:spcPts val="400"/>
              </a:spcAft>
              <a:defRPr sz="1400" b="0">
                <a:solidFill>
                  <a:srgbClr val="CCCCCC"/>
                </a:solidFill>
              </a:defRPr>
            </a:pPr>
            <a:r>
              <a:t>CVE в cryptography 44.0.1</a:t>
            </a:r>
          </a:p>
          <a:p>
            <a:pPr>
              <a:spcAft>
                <a:spcPts val="400"/>
              </a:spcAft>
              <a:defRPr sz="1400" b="0">
                <a:solidFill>
                  <a:srgbClr val="CCCCCC"/>
                </a:solidFill>
              </a:defRPr>
            </a:pPr>
            <a:r>
              <a:t>CVE в orjson 3.11.2 (рекурсия → DoS)</a:t>
            </a:r>
          </a:p>
          <a:p>
            <a:pPr>
              <a:spcAft>
                <a:spcPts val="400"/>
              </a:spcAft>
              <a:defRPr sz="1400" b="0">
                <a:solidFill>
                  <a:srgbClr val="CCCCCC"/>
                </a:solidFill>
              </a:defRPr>
            </a:pPr>
            <a:r>
              <a:t>CVE в pyjwt 2.10.1 (crit headers)</a:t>
            </a:r>
          </a:p>
          <a:p>
            <a:pPr>
              <a:spcAft>
                <a:spcPts val="400"/>
              </a:spcAft>
              <a:defRPr sz="1400" b="0">
                <a:solidFill>
                  <a:srgbClr val="CCCCCC"/>
                </a:solidFill>
              </a:defRPr>
            </a:pPr>
            <a:r>
              <a:t>CVE в Pillow 11.0.0 (OOB write)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280160"/>
            <a:ext cx="5394960" cy="3840480"/>
          </a:xfrm>
          <a:prstGeom prst="roundRect">
            <a:avLst/>
          </a:prstGeom>
          <a:solidFill>
            <a:srgbClr val="25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600"/>
              </a:spcAft>
              <a:defRPr sz="1800" b="1">
                <a:solidFill>
                  <a:srgbClr val="999999"/>
                </a:solidFill>
              </a:defRPr>
            </a:pPr>
            <a:r>
              <a:t>Ложные срабатывания (~340)</a:t>
            </a:r>
          </a:p>
          <a:p>
            <a:pPr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</a:rPr>
              <a:t>try/except/pass — 144</a:t>
            </a:r>
            <a:r>
              <a:rPr sz="1300">
                <a:solidFill>
                  <a:srgbClr val="999999"/>
                </a:solidFill>
              </a:rPr>
              <a:t>  (опциональные импорты)</a:t>
            </a:r>
          </a:p>
          <a:p>
            <a:pPr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</a:rPr>
              <a:t>Tokenizer-строки — 53</a:t>
            </a:r>
            <a:r>
              <a:rPr sz="1300">
                <a:solidFill>
                  <a:srgbClr val="999999"/>
                </a:solidFill>
              </a:rPr>
              <a:t>  ("пароли" вроде &lt;s&gt;, &lt;/s&gt;)</a:t>
            </a:r>
          </a:p>
          <a:p>
            <a:pPr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</a:rPr>
              <a:t>assert usage — 51</a:t>
            </a:r>
            <a:r>
              <a:rPr sz="1300">
                <a:solidFill>
                  <a:srgbClr val="999999"/>
                </a:solidFill>
              </a:rPr>
              <a:t>  (не в production-путях)</a:t>
            </a:r>
          </a:p>
          <a:p>
            <a:pPr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</a:rPr>
              <a:t>random (не security) — 31</a:t>
            </a:r>
            <a:r>
              <a:rPr sz="1300">
                <a:solidFill>
                  <a:srgbClr val="999999"/>
                </a:solidFill>
              </a:rPr>
              <a:t>  (для request ID)</a:t>
            </a:r>
          </a:p>
          <a:p>
            <a:pPr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</a:rPr>
              <a:t>Прочие — ~61</a:t>
            </a:r>
            <a:r>
              <a:rPr sz="1300">
                <a:solidFill>
                  <a:srgbClr val="999999"/>
                </a:solidFill>
              </a:rPr>
              <a:t>  (subprocess, binding и др.)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394960"/>
            <a:ext cx="10698480" cy="1097280"/>
          </a:xfrm>
          <a:prstGeom prst="roundRect">
            <a:avLst/>
          </a:prstGeom>
          <a:solidFill>
            <a:srgbClr val="25253A"/>
          </a:solidFill>
          <a:ln w="25400">
            <a:solidFill>
              <a:srgbClr val="42AF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500" b="1">
                <a:solidFill>
                  <a:srgbClr val="FFFFFF"/>
                </a:solidFill>
              </a:defRPr>
            </a:pPr>
            <a:r>
              <a:t>~95% Bandit-находок — шум. Ручной триаж необходим.</a:t>
            </a:r>
          </a:p>
          <a:p>
            <a:pPr algn="ctr"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t>Semgrep нашёл JWT/CORS (Bandit не нашёл)  •  Bandit нашёл SQL/timeout (Semgrep не нашёл)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3200" b="1">
                <a:solidFill>
                  <a:srgbClr val="42AFFA"/>
                </a:solidFill>
              </a:defRPr>
            </a:pPr>
            <a:r>
              <a:t>Выводы для защиты AI-систем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</a:pPr>
            <a:r>
              <a:rPr sz="1700" b="1">
                <a:solidFill>
                  <a:srgbClr val="FFFFFF"/>
                </a:solidFill>
              </a:rPr>
              <a:t>exec() в guardrails — самый критичный риск: </a:t>
            </a:r>
            <a:r>
              <a:rPr sz="1600">
                <a:solidFill>
                  <a:srgbClr val="CCCCCC"/>
                </a:solidFill>
              </a:rPr>
              <a:t>sandbox bypass тривиален, требуется контейнерная изоляция или AST-based whitelist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FFFFFF"/>
                </a:solidFill>
              </a:rPr>
              <a:t>Supply chain (aiohttp) — скрытая атакуемая поверхность: </a:t>
            </a:r>
            <a:r>
              <a:rPr sz="1600">
                <a:solidFill>
                  <a:srgbClr val="CCCCCC"/>
                </a:solidFill>
              </a:rPr>
              <a:t>10 CVE в одной зависимости, которую используют все HTTP-запросы к провайдерам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FFFFFF"/>
                </a:solidFill>
              </a:rPr>
              <a:t>Статический анализ не покрывает runtime-риски: </a:t>
            </a:r>
            <a:r>
              <a:rPr sz="1600">
                <a:solidFill>
                  <a:srgbClr val="CCCCCC"/>
                </a:solidFill>
              </a:rPr>
              <a:t>авторизация, multi-tenant isolation, SSRF, prompt injection, обход guardrails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FFFFFF"/>
                </a:solidFill>
              </a:rPr>
              <a:t>Взаимодополняемость инструментов: </a:t>
            </a:r>
            <a:r>
              <a:rPr sz="1600">
                <a:solidFill>
                  <a:srgbClr val="CCCCCC"/>
                </a:solidFill>
              </a:rPr>
              <a:t>ни Bandit, ни Semgrep по отдельности не нашли все проблемы — комбинация даёт лучшее покрытие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FFFFFF"/>
                </a:solidFill>
              </a:rPr>
              <a:t>skillscan неприменим: </a:t>
            </a:r>
            <a:r>
              <a:rPr sz="1600">
                <a:solidFill>
                  <a:srgbClr val="CCCCCC"/>
                </a:solidFill>
              </a:rPr>
              <a:t>несоответствие threat model (AI agent skills vs. инфраструктурный код) — важно выбирать инструменты по типу проекта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3200" b="1">
                <a:solidFill>
                  <a:srgbClr val="42AFFA"/>
                </a:solidFill>
              </a:defRPr>
            </a:pPr>
            <a:r>
              <a:t>Практические рекомендации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4CAF50"/>
                </a:solidFill>
              </a:defRPr>
            </a:pPr>
            <a:r>
              <a:t>Quick wins (низкие усилия, высокий эффект)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500" b="0">
                <a:solidFill>
                  <a:srgbClr val="CCCCCC"/>
                </a:solidFill>
              </a:defRPr>
            </a:pPr>
            <a:r>
              <a:t>Обновить aiohttp ≥ 3.13.4 — закрывает 10 CVE</a:t>
            </a:r>
          </a:p>
          <a:p>
            <a:pPr>
              <a:spcAft>
                <a:spcPts val="400"/>
              </a:spcAft>
              <a:defRPr sz="1500" b="0">
                <a:solidFill>
                  <a:srgbClr val="CCCCCC"/>
                </a:solidFill>
              </a:defRPr>
            </a:pPr>
            <a:r>
              <a:t>Обновить orjson ≥ 3.11.6, pyjwt ≥ 2.12.0</a:t>
            </a:r>
          </a:p>
          <a:p>
            <a:pPr>
              <a:spcAft>
                <a:spcPts val="400"/>
              </a:spcAft>
              <a:defRPr sz="1500" b="0">
                <a:solidFill>
                  <a:srgbClr val="CCCCCC"/>
                </a:solidFill>
              </a:defRPr>
            </a:pPr>
            <a:r>
              <a:t>Добавить timeout ко всем HTTP-запросам</a:t>
            </a:r>
          </a:p>
          <a:p>
            <a:pPr>
              <a:spcAft>
                <a:spcPts val="400"/>
              </a:spcAft>
              <a:defRPr sz="1500" b="0">
                <a:solidFill>
                  <a:srgbClr val="CCCCCC"/>
                </a:solidFill>
              </a:defRPr>
            </a:pPr>
            <a:r>
              <a:t>Заменить MD5 на SHA-256 для spend logs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71799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FFAA00"/>
                </a:solidFill>
              </a:defRPr>
            </a:pPr>
            <a:r>
              <a:t>Структурные изменения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337559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500" b="0">
                <a:solidFill>
                  <a:srgbClr val="CCCCCC"/>
                </a:solidFill>
              </a:defRPr>
            </a:pPr>
            <a:r>
              <a:t>Заменить exec() на AST whitelist или sandboxed subprocess</a:t>
            </a:r>
          </a:p>
          <a:p>
            <a:pPr>
              <a:spcAft>
                <a:spcPts val="400"/>
              </a:spcAft>
              <a:defRPr sz="1500" b="0">
                <a:solidFill>
                  <a:srgbClr val="CCCCCC"/>
                </a:solidFill>
              </a:defRPr>
            </a:pPr>
            <a:r>
              <a:t>Настроить CORS с явным списком доверенных origins</a:t>
            </a:r>
          </a:p>
          <a:p>
            <a:pPr>
              <a:spcAft>
                <a:spcPts val="400"/>
              </a:spcAft>
              <a:defRPr sz="1500" b="0">
                <a:solidFill>
                  <a:srgbClr val="CCCCCC"/>
                </a:solidFill>
              </a:defRPr>
            </a:pPr>
            <a:r>
              <a:t>Добавить явную верификацию JWT-подписи</a:t>
            </a:r>
          </a:p>
          <a:p>
            <a:pPr>
              <a:spcAft>
                <a:spcPts val="400"/>
              </a:spcAft>
              <a:defRPr sz="1500" b="0">
                <a:solidFill>
                  <a:srgbClr val="CCCCCC"/>
                </a:solidFill>
              </a:defRPr>
            </a:pPr>
            <a:r>
              <a:t>Заменить xml.etree на defusedxml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7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42AFFA"/>
                </a:solidFill>
              </a:defRPr>
            </a:pPr>
            <a:r>
              <a:t>Процесс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120638"/>
            <a:ext cx="1033272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500" b="0">
                <a:solidFill>
                  <a:srgbClr val="CCCCCC"/>
                </a:solidFill>
              </a:defRPr>
            </a:pPr>
            <a:r>
              <a:t>Включить SAST в CI/CD pipeline</a:t>
            </a:r>
          </a:p>
          <a:p>
            <a:pPr>
              <a:spcAft>
                <a:spcPts val="400"/>
              </a:spcAft>
              <a:defRPr sz="1500" b="0">
                <a:solidFill>
                  <a:srgbClr val="CCCCCC"/>
                </a:solidFill>
              </a:defRPr>
            </a:pPr>
            <a:r>
              <a:t>Дополнить DAST/пентестом для runtime-рисков (auth, SSRF, prompt injection)</a:t>
            </a:r>
          </a:p>
          <a:p>
            <a:pPr>
              <a:spcAft>
                <a:spcPts val="400"/>
              </a:spcAft>
              <a:defRPr sz="1500" b="0">
                <a:solidFill>
                  <a:srgbClr val="CCCCCC"/>
                </a:solidFill>
              </a:defRPr>
            </a:pPr>
            <a:r>
              <a:t>Полный аудит транзитивных зависимостей на совместимой Python-версии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